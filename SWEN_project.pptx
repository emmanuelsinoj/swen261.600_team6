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Lato Bold" charset="1" panose="020F0502020204030203"/>
      <p:regular r:id="rId9"/>
    </p:embeddedFont>
    <p:embeddedFont>
      <p:font typeface="EB Garamond" charset="1" panose="00000000000000000000"/>
      <p:regular r:id="rId10"/>
    </p:embeddedFont>
    <p:embeddedFont>
      <p:font typeface="EB Garamond Semi-Bold" charset="1" panose="000000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04842">
            <a:off x="10721318" y="2454531"/>
            <a:ext cx="12523379" cy="8296738"/>
          </a:xfrm>
          <a:custGeom>
            <a:avLst/>
            <a:gdLst/>
            <a:ahLst/>
            <a:cxnLst/>
            <a:rect r="r" b="b" t="t" l="l"/>
            <a:pathLst>
              <a:path h="8296738" w="12523379">
                <a:moveTo>
                  <a:pt x="0" y="0"/>
                </a:moveTo>
                <a:lnTo>
                  <a:pt x="12523378" y="0"/>
                </a:lnTo>
                <a:lnTo>
                  <a:pt x="12523378" y="8296739"/>
                </a:lnTo>
                <a:lnTo>
                  <a:pt x="0" y="82967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211281">
            <a:off x="-1428224" y="4721073"/>
            <a:ext cx="7219796" cy="6419055"/>
          </a:xfrm>
          <a:custGeom>
            <a:avLst/>
            <a:gdLst/>
            <a:ahLst/>
            <a:cxnLst/>
            <a:rect r="r" b="b" t="t" l="l"/>
            <a:pathLst>
              <a:path h="6419055" w="7219796">
                <a:moveTo>
                  <a:pt x="0" y="0"/>
                </a:moveTo>
                <a:lnTo>
                  <a:pt x="7219796" y="0"/>
                </a:lnTo>
                <a:lnTo>
                  <a:pt x="7219796" y="6419055"/>
                </a:lnTo>
                <a:lnTo>
                  <a:pt x="0" y="64190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1197" y="2137490"/>
            <a:ext cx="6166803" cy="8149510"/>
          </a:xfrm>
          <a:custGeom>
            <a:avLst/>
            <a:gdLst/>
            <a:ahLst/>
            <a:cxnLst/>
            <a:rect r="r" b="b" t="t" l="l"/>
            <a:pathLst>
              <a:path h="8149510" w="6166803">
                <a:moveTo>
                  <a:pt x="0" y="0"/>
                </a:moveTo>
                <a:lnTo>
                  <a:pt x="6166803" y="0"/>
                </a:lnTo>
                <a:lnTo>
                  <a:pt x="6166803" y="8149510"/>
                </a:lnTo>
                <a:lnTo>
                  <a:pt x="0" y="81495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918801"/>
            <a:ext cx="2770538" cy="7368199"/>
          </a:xfrm>
          <a:custGeom>
            <a:avLst/>
            <a:gdLst/>
            <a:ahLst/>
            <a:cxnLst/>
            <a:rect r="r" b="b" t="t" l="l"/>
            <a:pathLst>
              <a:path h="7368199" w="2770538">
                <a:moveTo>
                  <a:pt x="0" y="0"/>
                </a:moveTo>
                <a:lnTo>
                  <a:pt x="2770538" y="0"/>
                </a:lnTo>
                <a:lnTo>
                  <a:pt x="2770538" y="7368199"/>
                </a:lnTo>
                <a:lnTo>
                  <a:pt x="0" y="73681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11650" y="3165325"/>
            <a:ext cx="10464701" cy="181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1"/>
              </a:lnSpc>
            </a:pPr>
            <a:r>
              <a:rPr lang="en-US" sz="5200" b="true">
                <a:solidFill>
                  <a:srgbClr val="1D0E62"/>
                </a:solidFill>
                <a:latin typeface="Lato Bold"/>
                <a:ea typeface="Lato Bold"/>
                <a:cs typeface="Lato Bold"/>
                <a:sym typeface="Lato Bold"/>
              </a:rPr>
              <a:t>U</a:t>
            </a:r>
            <a:r>
              <a:rPr lang="en-US" b="true" sz="5200">
                <a:solidFill>
                  <a:srgbClr val="1D0E62"/>
                </a:solidFill>
                <a:latin typeface="Lato Bold"/>
                <a:ea typeface="Lato Bold"/>
                <a:cs typeface="Lato Bold"/>
                <a:sym typeface="Lato Bold"/>
              </a:rPr>
              <a:t>niversity Course Enrollment Portal</a:t>
            </a:r>
          </a:p>
          <a:p>
            <a:pPr algn="ctr">
              <a:lnSpc>
                <a:spcPts val="7281"/>
              </a:lnSpc>
            </a:pPr>
            <a:r>
              <a:rPr lang="en-US" b="true" sz="5200">
                <a:solidFill>
                  <a:srgbClr val="1D0E62"/>
                </a:solidFill>
                <a:latin typeface="Lato Bold"/>
                <a:ea typeface="Lato Bold"/>
                <a:cs typeface="Lato Bold"/>
                <a:sym typeface="Lato Bold"/>
              </a:rPr>
              <a:t>UNIenroll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605229" y="1228498"/>
            <a:ext cx="5077543" cy="908992"/>
            <a:chOff x="0" y="0"/>
            <a:chExt cx="2270113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70113" cy="406400"/>
            </a:xfrm>
            <a:custGeom>
              <a:avLst/>
              <a:gdLst/>
              <a:ahLst/>
              <a:cxnLst/>
              <a:rect r="r" b="b" t="t" l="l"/>
              <a:pathLst>
                <a:path h="406400" w="2270113">
                  <a:moveTo>
                    <a:pt x="2066913" y="0"/>
                  </a:moveTo>
                  <a:cubicBezTo>
                    <a:pt x="2179137" y="0"/>
                    <a:pt x="2270113" y="90976"/>
                    <a:pt x="2270113" y="203200"/>
                  </a:cubicBezTo>
                  <a:cubicBezTo>
                    <a:pt x="2270113" y="315424"/>
                    <a:pt x="2179137" y="406400"/>
                    <a:pt x="206691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38100" cap="sq">
              <a:solidFill>
                <a:srgbClr val="F26B6D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27011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006605" y="1357746"/>
            <a:ext cx="4274790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26B6D"/>
                </a:solidFill>
                <a:latin typeface="EB Garamond"/>
                <a:ea typeface="EB Garamond"/>
                <a:cs typeface="EB Garamond"/>
                <a:sym typeface="EB Garamond"/>
              </a:rPr>
              <a:t>SWEN 261 – Spr</a:t>
            </a:r>
            <a:r>
              <a:rPr lang="en-US" sz="3399">
                <a:solidFill>
                  <a:srgbClr val="F26B6D"/>
                </a:solidFill>
                <a:latin typeface="EB Garamond"/>
                <a:ea typeface="EB Garamond"/>
                <a:cs typeface="EB Garamond"/>
                <a:sym typeface="EB Garamond"/>
              </a:rPr>
              <a:t>ing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33722" y="5095875"/>
            <a:ext cx="10483449" cy="307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1"/>
              </a:lnSpc>
            </a:pPr>
            <a:r>
              <a:rPr lang="en-US" b="true" sz="2172">
                <a:solidFill>
                  <a:srgbClr val="F26B6D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FOR university students and academic staff</a:t>
            </a:r>
          </a:p>
          <a:p>
            <a:pPr algn="ctr">
              <a:lnSpc>
                <a:spcPts val="3041"/>
              </a:lnSpc>
            </a:pPr>
            <a:r>
              <a:rPr lang="en-US" b="true" sz="2172">
                <a:solidFill>
                  <a:srgbClr val="F26B6D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WHO needs an efficient way to browse courses and manage enrollments</a:t>
            </a:r>
          </a:p>
          <a:p>
            <a:pPr algn="ctr">
              <a:lnSpc>
                <a:spcPts val="3041"/>
              </a:lnSpc>
            </a:pPr>
            <a:r>
              <a:rPr lang="en-US" b="true" sz="2172">
                <a:solidFill>
                  <a:srgbClr val="F26B6D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THE UniEnroll IS a web-based academic platform</a:t>
            </a:r>
          </a:p>
          <a:p>
            <a:pPr algn="ctr">
              <a:lnSpc>
                <a:spcPts val="3041"/>
              </a:lnSpc>
            </a:pPr>
            <a:r>
              <a:rPr lang="en-US" b="true" sz="2172">
                <a:solidFill>
                  <a:srgbClr val="F26B6D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THAT simplifies course discovery, enrollment, and administration while reducing manual work and improving the academic experience</a:t>
            </a:r>
          </a:p>
          <a:p>
            <a:pPr algn="ctr">
              <a:lnSpc>
                <a:spcPts val="3041"/>
              </a:lnSpc>
            </a:pPr>
            <a:r>
              <a:rPr lang="en-US" b="true" sz="2172">
                <a:solidFill>
                  <a:srgbClr val="F26B6D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UNLIKE manual registration processes or outdated campus systems</a:t>
            </a:r>
          </a:p>
          <a:p>
            <a:pPr algn="ctr">
              <a:lnSpc>
                <a:spcPts val="3041"/>
              </a:lnSpc>
            </a:pPr>
            <a:r>
              <a:rPr lang="en-US" b="true" sz="2172">
                <a:solidFill>
                  <a:srgbClr val="F26B6D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OUR PRODUCT is intuitive, reliable, and designed specifically for modern universities</a:t>
            </a:r>
          </a:p>
          <a:p>
            <a:pPr algn="l">
              <a:lnSpc>
                <a:spcPts val="3041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04842">
            <a:off x="11731466" y="3928692"/>
            <a:ext cx="12523379" cy="8296738"/>
          </a:xfrm>
          <a:custGeom>
            <a:avLst/>
            <a:gdLst/>
            <a:ahLst/>
            <a:cxnLst/>
            <a:rect r="r" b="b" t="t" l="l"/>
            <a:pathLst>
              <a:path h="8296738" w="12523379">
                <a:moveTo>
                  <a:pt x="0" y="0"/>
                </a:moveTo>
                <a:lnTo>
                  <a:pt x="12523379" y="0"/>
                </a:lnTo>
                <a:lnTo>
                  <a:pt x="12523379" y="8296738"/>
                </a:lnTo>
                <a:lnTo>
                  <a:pt x="0" y="8296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997913"/>
            <a:ext cx="16230600" cy="8260387"/>
            <a:chOff x="0" y="0"/>
            <a:chExt cx="1797191" cy="9146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7191" cy="914661"/>
            </a:xfrm>
            <a:custGeom>
              <a:avLst/>
              <a:gdLst/>
              <a:ahLst/>
              <a:cxnLst/>
              <a:rect r="r" b="b" t="t" l="l"/>
              <a:pathLst>
                <a:path h="914661" w="1797191">
                  <a:moveTo>
                    <a:pt x="14310" y="0"/>
                  </a:moveTo>
                  <a:lnTo>
                    <a:pt x="1782882" y="0"/>
                  </a:lnTo>
                  <a:cubicBezTo>
                    <a:pt x="1786677" y="0"/>
                    <a:pt x="1790316" y="1508"/>
                    <a:pt x="1793000" y="4191"/>
                  </a:cubicBezTo>
                  <a:cubicBezTo>
                    <a:pt x="1795684" y="6875"/>
                    <a:pt x="1797191" y="10515"/>
                    <a:pt x="1797191" y="14310"/>
                  </a:cubicBezTo>
                  <a:lnTo>
                    <a:pt x="1797191" y="900351"/>
                  </a:lnTo>
                  <a:cubicBezTo>
                    <a:pt x="1797191" y="904146"/>
                    <a:pt x="1795684" y="907786"/>
                    <a:pt x="1793000" y="910470"/>
                  </a:cubicBezTo>
                  <a:cubicBezTo>
                    <a:pt x="1790316" y="913153"/>
                    <a:pt x="1786677" y="914661"/>
                    <a:pt x="1782882" y="914661"/>
                  </a:cubicBezTo>
                  <a:lnTo>
                    <a:pt x="14310" y="914661"/>
                  </a:lnTo>
                  <a:cubicBezTo>
                    <a:pt x="10515" y="914661"/>
                    <a:pt x="6875" y="913153"/>
                    <a:pt x="4191" y="910470"/>
                  </a:cubicBezTo>
                  <a:cubicBezTo>
                    <a:pt x="1508" y="907786"/>
                    <a:pt x="0" y="904146"/>
                    <a:pt x="0" y="900351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7191" cy="962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9442564">
            <a:off x="-3236076" y="-568392"/>
            <a:ext cx="7219796" cy="6419055"/>
          </a:xfrm>
          <a:custGeom>
            <a:avLst/>
            <a:gdLst/>
            <a:ahLst/>
            <a:cxnLst/>
            <a:rect r="r" b="b" t="t" l="l"/>
            <a:pathLst>
              <a:path h="6419055" w="7219796">
                <a:moveTo>
                  <a:pt x="0" y="0"/>
                </a:moveTo>
                <a:lnTo>
                  <a:pt x="7219796" y="0"/>
                </a:lnTo>
                <a:lnTo>
                  <a:pt x="7219796" y="6419056"/>
                </a:lnTo>
                <a:lnTo>
                  <a:pt x="0" y="6419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180342" y="144307"/>
            <a:ext cx="13543791" cy="1356300"/>
            <a:chOff x="0" y="0"/>
            <a:chExt cx="1499685" cy="1501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99685" cy="150181"/>
            </a:xfrm>
            <a:custGeom>
              <a:avLst/>
              <a:gdLst/>
              <a:ahLst/>
              <a:cxnLst/>
              <a:rect r="r" b="b" t="t" l="l"/>
              <a:pathLst>
                <a:path h="150181" w="1499685">
                  <a:moveTo>
                    <a:pt x="17149" y="0"/>
                  </a:moveTo>
                  <a:lnTo>
                    <a:pt x="1482536" y="0"/>
                  </a:lnTo>
                  <a:cubicBezTo>
                    <a:pt x="1487084" y="0"/>
                    <a:pt x="1491446" y="1807"/>
                    <a:pt x="1494662" y="5023"/>
                  </a:cubicBezTo>
                  <a:cubicBezTo>
                    <a:pt x="1497878" y="8239"/>
                    <a:pt x="1499685" y="12601"/>
                    <a:pt x="1499685" y="17149"/>
                  </a:cubicBezTo>
                  <a:lnTo>
                    <a:pt x="1499685" y="133033"/>
                  </a:lnTo>
                  <a:cubicBezTo>
                    <a:pt x="1499685" y="137581"/>
                    <a:pt x="1497878" y="141942"/>
                    <a:pt x="1494662" y="145158"/>
                  </a:cubicBezTo>
                  <a:cubicBezTo>
                    <a:pt x="1491446" y="148374"/>
                    <a:pt x="1487084" y="150181"/>
                    <a:pt x="1482536" y="150181"/>
                  </a:cubicBezTo>
                  <a:lnTo>
                    <a:pt x="17149" y="150181"/>
                  </a:lnTo>
                  <a:cubicBezTo>
                    <a:pt x="12601" y="150181"/>
                    <a:pt x="8239" y="148374"/>
                    <a:pt x="5023" y="145158"/>
                  </a:cubicBezTo>
                  <a:cubicBezTo>
                    <a:pt x="1807" y="141942"/>
                    <a:pt x="0" y="137581"/>
                    <a:pt x="0" y="133033"/>
                  </a:cubicBezTo>
                  <a:lnTo>
                    <a:pt x="0" y="17149"/>
                  </a:lnTo>
                  <a:cubicBezTo>
                    <a:pt x="0" y="12601"/>
                    <a:pt x="1807" y="8239"/>
                    <a:pt x="5023" y="5023"/>
                  </a:cubicBezTo>
                  <a:cubicBezTo>
                    <a:pt x="8239" y="1807"/>
                    <a:pt x="12601" y="0"/>
                    <a:pt x="17149" y="0"/>
                  </a:cubicBezTo>
                  <a:close/>
                </a:path>
              </a:pathLst>
            </a:custGeom>
            <a:solidFill>
              <a:srgbClr val="FFD2D3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499685" cy="197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1681081"/>
            <a:ext cx="7823762" cy="8318166"/>
            <a:chOff x="0" y="0"/>
            <a:chExt cx="866314" cy="9210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6314" cy="921059"/>
            </a:xfrm>
            <a:custGeom>
              <a:avLst/>
              <a:gdLst/>
              <a:ahLst/>
              <a:cxnLst/>
              <a:rect r="r" b="b" t="t" l="l"/>
              <a:pathLst>
                <a:path h="921059" w="866314">
                  <a:moveTo>
                    <a:pt x="29686" y="0"/>
                  </a:moveTo>
                  <a:lnTo>
                    <a:pt x="836628" y="0"/>
                  </a:lnTo>
                  <a:cubicBezTo>
                    <a:pt x="844501" y="0"/>
                    <a:pt x="852052" y="3128"/>
                    <a:pt x="857619" y="8695"/>
                  </a:cubicBezTo>
                  <a:cubicBezTo>
                    <a:pt x="863186" y="14262"/>
                    <a:pt x="866314" y="21813"/>
                    <a:pt x="866314" y="29686"/>
                  </a:cubicBezTo>
                  <a:lnTo>
                    <a:pt x="866314" y="891373"/>
                  </a:lnTo>
                  <a:cubicBezTo>
                    <a:pt x="866314" y="899246"/>
                    <a:pt x="863186" y="906797"/>
                    <a:pt x="857619" y="912364"/>
                  </a:cubicBezTo>
                  <a:cubicBezTo>
                    <a:pt x="852052" y="917931"/>
                    <a:pt x="844501" y="921059"/>
                    <a:pt x="836628" y="921059"/>
                  </a:cubicBezTo>
                  <a:lnTo>
                    <a:pt x="29686" y="921059"/>
                  </a:lnTo>
                  <a:cubicBezTo>
                    <a:pt x="21813" y="921059"/>
                    <a:pt x="14262" y="917931"/>
                    <a:pt x="8695" y="912364"/>
                  </a:cubicBezTo>
                  <a:cubicBezTo>
                    <a:pt x="3128" y="906797"/>
                    <a:pt x="0" y="899246"/>
                    <a:pt x="0" y="891373"/>
                  </a:cubicBezTo>
                  <a:lnTo>
                    <a:pt x="0" y="29686"/>
                  </a:lnTo>
                  <a:cubicBezTo>
                    <a:pt x="0" y="21813"/>
                    <a:pt x="3128" y="14262"/>
                    <a:pt x="8695" y="8695"/>
                  </a:cubicBezTo>
                  <a:cubicBezTo>
                    <a:pt x="14262" y="3128"/>
                    <a:pt x="21813" y="0"/>
                    <a:pt x="29686" y="0"/>
                  </a:cubicBezTo>
                  <a:close/>
                </a:path>
              </a:pathLst>
            </a:custGeom>
            <a:solidFill>
              <a:srgbClr val="7B95F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66314" cy="968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37287" y="1681081"/>
            <a:ext cx="8285397" cy="8318166"/>
            <a:chOff x="0" y="0"/>
            <a:chExt cx="917430" cy="9210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7430" cy="921059"/>
            </a:xfrm>
            <a:custGeom>
              <a:avLst/>
              <a:gdLst/>
              <a:ahLst/>
              <a:cxnLst/>
              <a:rect r="r" b="b" t="t" l="l"/>
              <a:pathLst>
                <a:path h="921059" w="917430">
                  <a:moveTo>
                    <a:pt x="28032" y="0"/>
                  </a:moveTo>
                  <a:lnTo>
                    <a:pt x="889398" y="0"/>
                  </a:lnTo>
                  <a:cubicBezTo>
                    <a:pt x="904880" y="0"/>
                    <a:pt x="917430" y="12550"/>
                    <a:pt x="917430" y="28032"/>
                  </a:cubicBezTo>
                  <a:lnTo>
                    <a:pt x="917430" y="893027"/>
                  </a:lnTo>
                  <a:cubicBezTo>
                    <a:pt x="917430" y="900461"/>
                    <a:pt x="914477" y="907591"/>
                    <a:pt x="909220" y="912848"/>
                  </a:cubicBezTo>
                  <a:cubicBezTo>
                    <a:pt x="903963" y="918105"/>
                    <a:pt x="896833" y="921059"/>
                    <a:pt x="889398" y="921059"/>
                  </a:cubicBezTo>
                  <a:lnTo>
                    <a:pt x="28032" y="921059"/>
                  </a:lnTo>
                  <a:cubicBezTo>
                    <a:pt x="20598" y="921059"/>
                    <a:pt x="13467" y="918105"/>
                    <a:pt x="8210" y="912848"/>
                  </a:cubicBezTo>
                  <a:cubicBezTo>
                    <a:pt x="2953" y="907591"/>
                    <a:pt x="0" y="900461"/>
                    <a:pt x="0" y="893027"/>
                  </a:cubicBezTo>
                  <a:lnTo>
                    <a:pt x="0" y="28032"/>
                  </a:lnTo>
                  <a:cubicBezTo>
                    <a:pt x="0" y="20598"/>
                    <a:pt x="2953" y="13467"/>
                    <a:pt x="8210" y="8210"/>
                  </a:cubicBezTo>
                  <a:cubicBezTo>
                    <a:pt x="13467" y="2953"/>
                    <a:pt x="20598" y="0"/>
                    <a:pt x="28032" y="0"/>
                  </a:cubicBezTo>
                  <a:close/>
                </a:path>
              </a:pathLst>
            </a:custGeom>
            <a:solidFill>
              <a:srgbClr val="7B95F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917430" cy="968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506888" y="212606"/>
            <a:ext cx="13274223" cy="1979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9"/>
              </a:lnSpc>
            </a:pPr>
            <a:r>
              <a:rPr lang="en-US" sz="5699" b="true">
                <a:solidFill>
                  <a:srgbClr val="1D0E62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Add</a:t>
            </a:r>
            <a:r>
              <a:rPr lang="en-US" b="true" sz="5699">
                <a:solidFill>
                  <a:srgbClr val="1D0E62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res</a:t>
            </a:r>
            <a:r>
              <a:rPr lang="en-US" b="true" sz="5699">
                <a:solidFill>
                  <a:srgbClr val="1D0E62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sing Academic System Complexities</a:t>
            </a:r>
          </a:p>
          <a:p>
            <a:pPr algn="ctr">
              <a:lnSpc>
                <a:spcPts val="797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02428" y="2593511"/>
            <a:ext cx="7476306" cy="592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Modern universities face growing challenges managing large student</a:t>
            </a:r>
            <a:r>
              <a:rPr lang="en-US" sz="2799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 populations and extensive course data. Key issues include: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E</a:t>
            </a:r>
            <a:r>
              <a:rPr lang="en-US" sz="2799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fficient data handling. 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Secure and intuitive student enrollment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Precise administrative control without compromising privacy.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Our project addresses these challenges by delivering a system that streamlines enrollment while balancing student usability with strong administrative oversight.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1004" y="1762161"/>
            <a:ext cx="4107652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1D0E62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The Pr</a:t>
            </a:r>
            <a:r>
              <a:rPr lang="en-US" b="true" sz="3399">
                <a:solidFill>
                  <a:srgbClr val="1D0E62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oblem: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86797" y="1762161"/>
            <a:ext cx="4293189" cy="117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1D0E62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Why Th</a:t>
            </a:r>
            <a:r>
              <a:rPr lang="en-US" b="true" sz="3399">
                <a:solidFill>
                  <a:srgbClr val="1D0E62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is Matters: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4989785" y="7784608"/>
            <a:ext cx="4865798" cy="2502392"/>
          </a:xfrm>
          <a:custGeom>
            <a:avLst/>
            <a:gdLst/>
            <a:ahLst/>
            <a:cxnLst/>
            <a:rect r="r" b="b" t="t" l="l"/>
            <a:pathLst>
              <a:path h="2502392" w="4865798">
                <a:moveTo>
                  <a:pt x="0" y="0"/>
                </a:moveTo>
                <a:lnTo>
                  <a:pt x="4865799" y="0"/>
                </a:lnTo>
                <a:lnTo>
                  <a:pt x="4865799" y="2502392"/>
                </a:lnTo>
                <a:lnTo>
                  <a:pt x="0" y="25023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2849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307385" y="2593511"/>
            <a:ext cx="8115300" cy="492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This project simulates real-world academic systems by focusing on: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Data persistence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consistancy and availability.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Role-based access control.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Secure Session Handling.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I</a:t>
            </a:r>
            <a:r>
              <a:rPr lang="en-US" sz="2799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mplemented within a professional full-stack development framework.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599554">
            <a:off x="-1797355" y="-2064764"/>
            <a:ext cx="7219796" cy="6419055"/>
          </a:xfrm>
          <a:custGeom>
            <a:avLst/>
            <a:gdLst/>
            <a:ahLst/>
            <a:cxnLst/>
            <a:rect r="r" b="b" t="t" l="l"/>
            <a:pathLst>
              <a:path h="6419055" w="7219796">
                <a:moveTo>
                  <a:pt x="0" y="0"/>
                </a:moveTo>
                <a:lnTo>
                  <a:pt x="7219796" y="0"/>
                </a:lnTo>
                <a:lnTo>
                  <a:pt x="7219796" y="6419055"/>
                </a:lnTo>
                <a:lnTo>
                  <a:pt x="0" y="6419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73518" y="378901"/>
            <a:ext cx="11455152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System Features &amp; Robust Architecture</a:t>
            </a:r>
          </a:p>
          <a:p>
            <a:pPr algn="ctr">
              <a:lnSpc>
                <a:spcPts val="727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547675" y="3811828"/>
            <a:ext cx="3712085" cy="9214244"/>
            <a:chOff x="0" y="0"/>
            <a:chExt cx="4949447" cy="1228565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949447" cy="12285659"/>
              <a:chOff x="0" y="0"/>
              <a:chExt cx="1173202" cy="291215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73202" cy="2912156"/>
              </a:xfrm>
              <a:custGeom>
                <a:avLst/>
                <a:gdLst/>
                <a:ahLst/>
                <a:cxnLst/>
                <a:rect r="r" b="b" t="t" l="l"/>
                <a:pathLst>
                  <a:path h="2912156" w="1173202">
                    <a:moveTo>
                      <a:pt x="87986" y="0"/>
                    </a:moveTo>
                    <a:lnTo>
                      <a:pt x="1085216" y="0"/>
                    </a:lnTo>
                    <a:cubicBezTo>
                      <a:pt x="1133809" y="0"/>
                      <a:pt x="1173202" y="39393"/>
                      <a:pt x="1173202" y="87986"/>
                    </a:cubicBezTo>
                    <a:lnTo>
                      <a:pt x="1173202" y="2824170"/>
                    </a:lnTo>
                    <a:cubicBezTo>
                      <a:pt x="1173202" y="2872763"/>
                      <a:pt x="1133809" y="2912156"/>
                      <a:pt x="1085216" y="2912156"/>
                    </a:cubicBezTo>
                    <a:lnTo>
                      <a:pt x="87986" y="2912156"/>
                    </a:lnTo>
                    <a:cubicBezTo>
                      <a:pt x="39393" y="2912156"/>
                      <a:pt x="0" y="2872763"/>
                      <a:pt x="0" y="2824170"/>
                    </a:cubicBezTo>
                    <a:lnTo>
                      <a:pt x="0" y="87986"/>
                    </a:lnTo>
                    <a:cubicBezTo>
                      <a:pt x="0" y="39393"/>
                      <a:pt x="39393" y="0"/>
                      <a:pt x="87986" y="0"/>
                    </a:cubicBezTo>
                    <a:close/>
                  </a:path>
                </a:pathLst>
              </a:custGeom>
              <a:solidFill>
                <a:srgbClr val="FFD18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1173202" cy="29597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263065" y="2231115"/>
              <a:ext cx="4423317" cy="63705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Browse and sear</a:t>
              </a:r>
              <a:r>
                <a:rPr lang="en-US" sz="2299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ch available courses.</a:t>
              </a:r>
            </a:p>
            <a:p>
              <a:pPr algn="l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Add/remove courses from a dynamic enrollment basket.</a:t>
              </a:r>
            </a:p>
            <a:p>
              <a:pPr algn="l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Commit final enrollment, updating the course catalog.</a:t>
              </a:r>
            </a:p>
            <a:p>
              <a:pPr algn="l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Enrollment selections persist across logouts and system restarts.</a:t>
              </a:r>
            </a:p>
            <a:p>
              <a:pPr algn="l">
                <a:lnSpc>
                  <a:spcPts val="3219"/>
                </a:lnSpc>
              </a:pP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263065" y="203200"/>
              <a:ext cx="4423317" cy="1511300"/>
              <a:chOff x="0" y="0"/>
              <a:chExt cx="1048490" cy="35823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48490" cy="358234"/>
              </a:xfrm>
              <a:custGeom>
                <a:avLst/>
                <a:gdLst/>
                <a:ahLst/>
                <a:cxnLst/>
                <a:rect r="r" b="b" t="t" l="l"/>
                <a:pathLst>
                  <a:path h="358234" w="1048490">
                    <a:moveTo>
                      <a:pt x="70010" y="0"/>
                    </a:moveTo>
                    <a:lnTo>
                      <a:pt x="978480" y="0"/>
                    </a:lnTo>
                    <a:cubicBezTo>
                      <a:pt x="997048" y="0"/>
                      <a:pt x="1014855" y="7376"/>
                      <a:pt x="1027985" y="20505"/>
                    </a:cubicBezTo>
                    <a:cubicBezTo>
                      <a:pt x="1041114" y="33635"/>
                      <a:pt x="1048490" y="51442"/>
                      <a:pt x="1048490" y="70010"/>
                    </a:cubicBezTo>
                    <a:lnTo>
                      <a:pt x="1048490" y="288224"/>
                    </a:lnTo>
                    <a:cubicBezTo>
                      <a:pt x="1048490" y="306792"/>
                      <a:pt x="1041114" y="324599"/>
                      <a:pt x="1027985" y="337729"/>
                    </a:cubicBezTo>
                    <a:cubicBezTo>
                      <a:pt x="1014855" y="350858"/>
                      <a:pt x="997048" y="358234"/>
                      <a:pt x="978480" y="358234"/>
                    </a:cubicBezTo>
                    <a:lnTo>
                      <a:pt x="70010" y="358234"/>
                    </a:lnTo>
                    <a:cubicBezTo>
                      <a:pt x="31345" y="358234"/>
                      <a:pt x="0" y="326889"/>
                      <a:pt x="0" y="288224"/>
                    </a:cubicBezTo>
                    <a:lnTo>
                      <a:pt x="0" y="70010"/>
                    </a:lnTo>
                    <a:cubicBezTo>
                      <a:pt x="0" y="51442"/>
                      <a:pt x="7376" y="33635"/>
                      <a:pt x="20505" y="20505"/>
                    </a:cubicBezTo>
                    <a:cubicBezTo>
                      <a:pt x="33635" y="7376"/>
                      <a:pt x="51442" y="0"/>
                      <a:pt x="7001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1048490" cy="405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22930" y="559223"/>
              <a:ext cx="4303587" cy="1542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7B95F9"/>
                  </a:solidFill>
                  <a:latin typeface="EB Garamond Semi-Bold"/>
                  <a:ea typeface="EB Garamond Semi-Bold"/>
                  <a:cs typeface="EB Garamond Semi-Bold"/>
                  <a:sym typeface="EB Garamond Semi-Bold"/>
                </a:rPr>
                <a:t>Student (Helper)</a:t>
              </a:r>
            </a:p>
            <a:p>
              <a:pPr algn="ctr">
                <a:lnSpc>
                  <a:spcPts val="4759"/>
                </a:lnSpc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63065" y="9520915"/>
              <a:ext cx="4423317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697910" y="3811828"/>
            <a:ext cx="3712085" cy="8814194"/>
            <a:chOff x="0" y="0"/>
            <a:chExt cx="4949447" cy="11752259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4949447" cy="11752259"/>
              <a:chOff x="0" y="0"/>
              <a:chExt cx="1173202" cy="278572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173202" cy="2785721"/>
              </a:xfrm>
              <a:custGeom>
                <a:avLst/>
                <a:gdLst/>
                <a:ahLst/>
                <a:cxnLst/>
                <a:rect r="r" b="b" t="t" l="l"/>
                <a:pathLst>
                  <a:path h="2785721" w="1173202">
                    <a:moveTo>
                      <a:pt x="87986" y="0"/>
                    </a:moveTo>
                    <a:lnTo>
                      <a:pt x="1085216" y="0"/>
                    </a:lnTo>
                    <a:cubicBezTo>
                      <a:pt x="1133809" y="0"/>
                      <a:pt x="1173202" y="39393"/>
                      <a:pt x="1173202" y="87986"/>
                    </a:cubicBezTo>
                    <a:lnTo>
                      <a:pt x="1173202" y="2697735"/>
                    </a:lnTo>
                    <a:cubicBezTo>
                      <a:pt x="1173202" y="2721070"/>
                      <a:pt x="1163932" y="2743449"/>
                      <a:pt x="1147432" y="2759950"/>
                    </a:cubicBezTo>
                    <a:cubicBezTo>
                      <a:pt x="1130931" y="2776451"/>
                      <a:pt x="1108551" y="2785721"/>
                      <a:pt x="1085216" y="2785721"/>
                    </a:cubicBezTo>
                    <a:lnTo>
                      <a:pt x="87986" y="2785721"/>
                    </a:lnTo>
                    <a:cubicBezTo>
                      <a:pt x="39393" y="2785721"/>
                      <a:pt x="0" y="2746328"/>
                      <a:pt x="0" y="2697735"/>
                    </a:cubicBezTo>
                    <a:lnTo>
                      <a:pt x="0" y="87986"/>
                    </a:lnTo>
                    <a:cubicBezTo>
                      <a:pt x="0" y="39393"/>
                      <a:pt x="39393" y="0"/>
                      <a:pt x="87986" y="0"/>
                    </a:cubicBezTo>
                    <a:close/>
                  </a:path>
                </a:pathLst>
              </a:custGeom>
              <a:solidFill>
                <a:srgbClr val="FFD180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1173202" cy="28333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263065" y="2231115"/>
              <a:ext cx="4423317" cy="5837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Full </a:t>
              </a:r>
              <a:r>
                <a:rPr lang="en-US" sz="2299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capabilities to add new courses.</a:t>
              </a:r>
            </a:p>
            <a:p>
              <a:pPr algn="l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Edit existing course details and schedules.</a:t>
              </a:r>
            </a:p>
            <a:p>
              <a:pPr algn="l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Delete courses from the catalog.</a:t>
              </a:r>
            </a:p>
            <a:p>
              <a:pPr algn="l" marL="496567" indent="-248284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Crucially, administrators have no access to sensitive student enrollment data.</a:t>
              </a:r>
            </a:p>
            <a:p>
              <a:pPr algn="l">
                <a:lnSpc>
                  <a:spcPts val="3219"/>
                </a:lnSpc>
              </a:pP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263065" y="203200"/>
              <a:ext cx="4423317" cy="1511300"/>
              <a:chOff x="0" y="0"/>
              <a:chExt cx="1048490" cy="35823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48490" cy="358234"/>
              </a:xfrm>
              <a:custGeom>
                <a:avLst/>
                <a:gdLst/>
                <a:ahLst/>
                <a:cxnLst/>
                <a:rect r="r" b="b" t="t" l="l"/>
                <a:pathLst>
                  <a:path h="358234" w="1048490">
                    <a:moveTo>
                      <a:pt x="70010" y="0"/>
                    </a:moveTo>
                    <a:lnTo>
                      <a:pt x="978480" y="0"/>
                    </a:lnTo>
                    <a:cubicBezTo>
                      <a:pt x="997048" y="0"/>
                      <a:pt x="1014855" y="7376"/>
                      <a:pt x="1027985" y="20505"/>
                    </a:cubicBezTo>
                    <a:cubicBezTo>
                      <a:pt x="1041114" y="33635"/>
                      <a:pt x="1048490" y="51442"/>
                      <a:pt x="1048490" y="70010"/>
                    </a:cubicBezTo>
                    <a:lnTo>
                      <a:pt x="1048490" y="288224"/>
                    </a:lnTo>
                    <a:cubicBezTo>
                      <a:pt x="1048490" y="306792"/>
                      <a:pt x="1041114" y="324599"/>
                      <a:pt x="1027985" y="337729"/>
                    </a:cubicBezTo>
                    <a:cubicBezTo>
                      <a:pt x="1014855" y="350858"/>
                      <a:pt x="997048" y="358234"/>
                      <a:pt x="978480" y="358234"/>
                    </a:cubicBezTo>
                    <a:lnTo>
                      <a:pt x="70010" y="358234"/>
                    </a:lnTo>
                    <a:cubicBezTo>
                      <a:pt x="31345" y="358234"/>
                      <a:pt x="0" y="326889"/>
                      <a:pt x="0" y="288224"/>
                    </a:cubicBezTo>
                    <a:lnTo>
                      <a:pt x="0" y="70010"/>
                    </a:lnTo>
                    <a:cubicBezTo>
                      <a:pt x="0" y="51442"/>
                      <a:pt x="7376" y="33635"/>
                      <a:pt x="20505" y="20505"/>
                    </a:cubicBezTo>
                    <a:cubicBezTo>
                      <a:pt x="33635" y="7376"/>
                      <a:pt x="51442" y="0"/>
                      <a:pt x="7001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1048490" cy="405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22930" y="559223"/>
              <a:ext cx="4303587" cy="1542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 b="true">
                  <a:solidFill>
                    <a:srgbClr val="7B95F9"/>
                  </a:solidFill>
                  <a:latin typeface="EB Garamond Semi-Bold"/>
                  <a:ea typeface="EB Garamond Semi-Bold"/>
                  <a:cs typeface="EB Garamond Semi-Bold"/>
                  <a:sym typeface="EB Garamond Semi-Bold"/>
                </a:rPr>
                <a:t>A</a:t>
              </a:r>
              <a:r>
                <a:rPr lang="en-US" b="true" sz="3399">
                  <a:solidFill>
                    <a:srgbClr val="7B95F9"/>
                  </a:solidFill>
                  <a:latin typeface="EB Garamond Semi-Bold"/>
                  <a:ea typeface="EB Garamond Semi-Bold"/>
                  <a:cs typeface="EB Garamond Semi-Bold"/>
                  <a:sym typeface="EB Garamond Semi-Bold"/>
                </a:rPr>
                <a:t>dmin (Owner)</a:t>
              </a:r>
            </a:p>
            <a:p>
              <a:pPr algn="ctr">
                <a:lnSpc>
                  <a:spcPts val="4759"/>
                </a:lnSpc>
              </a:pP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63065" y="8987515"/>
              <a:ext cx="4423317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795349" y="1144764"/>
            <a:ext cx="3332244" cy="3180779"/>
            <a:chOff x="0" y="0"/>
            <a:chExt cx="4442993" cy="42410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442993" cy="4241038"/>
            </a:xfrm>
            <a:custGeom>
              <a:avLst/>
              <a:gdLst/>
              <a:ahLst/>
              <a:cxnLst/>
              <a:rect r="r" b="b" t="t" l="l"/>
              <a:pathLst>
                <a:path h="4241038" w="4442993">
                  <a:moveTo>
                    <a:pt x="0" y="0"/>
                  </a:moveTo>
                  <a:lnTo>
                    <a:pt x="4442993" y="0"/>
                  </a:lnTo>
                  <a:lnTo>
                    <a:pt x="4442993" y="4241038"/>
                  </a:lnTo>
                  <a:lnTo>
                    <a:pt x="0" y="4241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131664" y="572520"/>
              <a:ext cx="1605601" cy="1112243"/>
            </a:xfrm>
            <a:custGeom>
              <a:avLst/>
              <a:gdLst/>
              <a:ahLst/>
              <a:cxnLst/>
              <a:rect r="r" b="b" t="t" l="l"/>
              <a:pathLst>
                <a:path h="1112243" w="1605601">
                  <a:moveTo>
                    <a:pt x="0" y="0"/>
                  </a:moveTo>
                  <a:lnTo>
                    <a:pt x="1605601" y="0"/>
                  </a:lnTo>
                  <a:lnTo>
                    <a:pt x="1605601" y="1112243"/>
                  </a:lnTo>
                  <a:lnTo>
                    <a:pt x="0" y="1112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465099" y="1850730"/>
              <a:ext cx="2964646" cy="2112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50"/>
                </a:lnSpc>
              </a:pPr>
              <a:r>
                <a:rPr lang="en-US" b="true" sz="3107">
                  <a:solidFill>
                    <a:srgbClr val="1D0E62"/>
                  </a:solidFill>
                  <a:latin typeface="EB Garamond Semi-Bold"/>
                  <a:ea typeface="EB Garamond Semi-Bold"/>
                  <a:cs typeface="EB Garamond Semi-Bold"/>
                  <a:sym typeface="EB Garamond Semi-Bold"/>
                </a:rPr>
                <a:t>User Roles &amp; Functionality</a:t>
              </a:r>
            </a:p>
            <a:p>
              <a:pPr algn="ctr">
                <a:lnSpc>
                  <a:spcPts val="435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071319" y="1839462"/>
            <a:ext cx="7051759" cy="11552314"/>
            <a:chOff x="0" y="0"/>
            <a:chExt cx="9402346" cy="15403085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2584027"/>
              <a:ext cx="9402346" cy="12819059"/>
              <a:chOff x="0" y="0"/>
              <a:chExt cx="2228704" cy="303859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228704" cy="3038592"/>
              </a:xfrm>
              <a:custGeom>
                <a:avLst/>
                <a:gdLst/>
                <a:ahLst/>
                <a:cxnLst/>
                <a:rect r="r" b="b" t="t" l="l"/>
                <a:pathLst>
                  <a:path h="3038592" w="2228704">
                    <a:moveTo>
                      <a:pt x="46316" y="0"/>
                    </a:moveTo>
                    <a:lnTo>
                      <a:pt x="2182388" y="0"/>
                    </a:lnTo>
                    <a:cubicBezTo>
                      <a:pt x="2207968" y="0"/>
                      <a:pt x="2228704" y="20737"/>
                      <a:pt x="2228704" y="46316"/>
                    </a:cubicBezTo>
                    <a:lnTo>
                      <a:pt x="2228704" y="2992275"/>
                    </a:lnTo>
                    <a:cubicBezTo>
                      <a:pt x="2228704" y="3004559"/>
                      <a:pt x="2223824" y="3016340"/>
                      <a:pt x="2215138" y="3025026"/>
                    </a:cubicBezTo>
                    <a:cubicBezTo>
                      <a:pt x="2206452" y="3033712"/>
                      <a:pt x="2194671" y="3038592"/>
                      <a:pt x="2182388" y="3038592"/>
                    </a:cubicBezTo>
                    <a:lnTo>
                      <a:pt x="46316" y="3038592"/>
                    </a:lnTo>
                    <a:cubicBezTo>
                      <a:pt x="34033" y="3038592"/>
                      <a:pt x="22252" y="3033712"/>
                      <a:pt x="13566" y="3025026"/>
                    </a:cubicBezTo>
                    <a:cubicBezTo>
                      <a:pt x="4880" y="3016340"/>
                      <a:pt x="0" y="3004559"/>
                      <a:pt x="0" y="2992275"/>
                    </a:cubicBezTo>
                    <a:lnTo>
                      <a:pt x="0" y="46316"/>
                    </a:lnTo>
                    <a:cubicBezTo>
                      <a:pt x="0" y="20737"/>
                      <a:pt x="20737" y="0"/>
                      <a:pt x="46316" y="0"/>
                    </a:cubicBezTo>
                    <a:close/>
                  </a:path>
                </a:pathLst>
              </a:custGeom>
              <a:solidFill>
                <a:srgbClr val="FFD180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2228704" cy="30862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59695" y="2781101"/>
              <a:ext cx="9242650" cy="82101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9375" indent="-294687" lvl="1">
                <a:lnSpc>
                  <a:spcPts val="3821"/>
                </a:lnSpc>
                <a:buFont typeface="Arial"/>
                <a:buChar char="•"/>
              </a:pPr>
              <a:r>
                <a:rPr lang="en-US" b="true" sz="2729">
                  <a:solidFill>
                    <a:srgbClr val="000000"/>
                  </a:solidFill>
                  <a:latin typeface="EB Garamond Semi-Bold"/>
                  <a:ea typeface="EB Garamond Semi-Bold"/>
                  <a:cs typeface="EB Garamond Semi-Bold"/>
                  <a:sym typeface="EB Garamond Semi-Bold"/>
                </a:rPr>
                <a:t>Backend: Java Spring</a:t>
              </a:r>
            </a:p>
            <a:p>
              <a:pPr algn="l" marL="1178749" indent="-392916" lvl="2">
                <a:lnSpc>
                  <a:spcPts val="3821"/>
                </a:lnSpc>
                <a:buFont typeface="Arial"/>
                <a:buChar char="⚬"/>
              </a:pPr>
              <a:r>
                <a:rPr lang="en-US" sz="2729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Powerful framework for scalable and secure server- side logic.</a:t>
              </a:r>
            </a:p>
            <a:p>
              <a:pPr algn="l" marL="589375" indent="-294687" lvl="1">
                <a:lnSpc>
                  <a:spcPts val="3821"/>
                </a:lnSpc>
                <a:buFont typeface="Arial"/>
                <a:buChar char="•"/>
              </a:pPr>
              <a:r>
                <a:rPr lang="en-US" b="true" sz="2729">
                  <a:solidFill>
                    <a:srgbClr val="000000"/>
                  </a:solidFill>
                  <a:latin typeface="EB Garamond Semi-Bold"/>
                  <a:ea typeface="EB Garamond Semi-Bold"/>
                  <a:cs typeface="EB Garamond Semi-Bold"/>
                  <a:sym typeface="EB Garamond Semi-Bold"/>
                </a:rPr>
                <a:t>Frontend: Angular</a:t>
              </a:r>
            </a:p>
            <a:p>
              <a:pPr algn="l" marL="1178749" indent="-392916" lvl="2">
                <a:lnSpc>
                  <a:spcPts val="3821"/>
                </a:lnSpc>
                <a:buFont typeface="Arial"/>
                <a:buChar char="⚬"/>
              </a:pPr>
              <a:r>
                <a:rPr lang="en-US" sz="2729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Modern framework for a dynamic and responsive user interface.</a:t>
              </a:r>
            </a:p>
            <a:p>
              <a:pPr algn="l" marL="589375" indent="-294687" lvl="1">
                <a:lnSpc>
                  <a:spcPts val="3821"/>
                </a:lnSpc>
                <a:buFont typeface="Arial"/>
                <a:buChar char="•"/>
              </a:pPr>
              <a:r>
                <a:rPr lang="en-US" b="true" sz="2729">
                  <a:solidFill>
                    <a:srgbClr val="000000"/>
                  </a:solidFill>
                  <a:latin typeface="EB Garamond Semi-Bold"/>
                  <a:ea typeface="EB Garamond Semi-Bold"/>
                  <a:cs typeface="EB Garamond Semi-Bold"/>
                  <a:sym typeface="EB Garamond Semi-Bold"/>
                </a:rPr>
                <a:t>Database: Persistent Storage</a:t>
              </a:r>
            </a:p>
            <a:p>
              <a:pPr algn="l" marL="1178749" indent="-392916" lvl="2">
                <a:lnSpc>
                  <a:spcPts val="3821"/>
                </a:lnSpc>
                <a:buFont typeface="Arial"/>
                <a:buChar char="⚬"/>
              </a:pPr>
              <a:r>
                <a:rPr lang="en-US" sz="2729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Ensuring data integrity and reliability for all academic records.</a:t>
              </a:r>
            </a:p>
            <a:p>
              <a:pPr algn="l" marL="589375" indent="-294687" lvl="1">
                <a:lnSpc>
                  <a:spcPts val="3821"/>
                </a:lnSpc>
                <a:buFont typeface="Arial"/>
                <a:buChar char="•"/>
              </a:pPr>
              <a:r>
                <a:rPr lang="en-US" b="true" sz="2729">
                  <a:solidFill>
                    <a:srgbClr val="000000"/>
                  </a:solidFill>
                  <a:latin typeface="EB Garamond Semi-Bold"/>
                  <a:ea typeface="EB Garamond Semi-Bold"/>
                  <a:cs typeface="EB Garamond Semi-Bold"/>
                  <a:sym typeface="EB Garamond Semi-Bold"/>
                </a:rPr>
                <a:t>Process: Scrum Methodology</a:t>
              </a:r>
            </a:p>
            <a:p>
              <a:pPr algn="l" marL="1178749" indent="-392916" lvl="2">
                <a:lnSpc>
                  <a:spcPts val="3821"/>
                </a:lnSpc>
                <a:buFont typeface="Arial"/>
                <a:buChar char="⚬"/>
              </a:pPr>
              <a:r>
                <a:rPr lang="en-US" sz="2729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Agile framework for iterative development and continuous improvement.</a:t>
              </a:r>
            </a:p>
            <a:p>
              <a:pPr algn="l">
                <a:lnSpc>
                  <a:spcPts val="3821"/>
                </a:lnSpc>
              </a:pP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613462" y="-57150"/>
              <a:ext cx="8175421" cy="7421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499738" y="12638342"/>
              <a:ext cx="8402869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328670" y="1557069"/>
            <a:ext cx="3579628" cy="3180779"/>
            <a:chOff x="0" y="0"/>
            <a:chExt cx="4772837" cy="424103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72837" cy="4241038"/>
            </a:xfrm>
            <a:custGeom>
              <a:avLst/>
              <a:gdLst/>
              <a:ahLst/>
              <a:cxnLst/>
              <a:rect r="r" b="b" t="t" l="l"/>
              <a:pathLst>
                <a:path h="4241038" w="4772837">
                  <a:moveTo>
                    <a:pt x="0" y="0"/>
                  </a:moveTo>
                  <a:lnTo>
                    <a:pt x="4772837" y="0"/>
                  </a:lnTo>
                  <a:lnTo>
                    <a:pt x="4772837" y="4241038"/>
                  </a:lnTo>
                  <a:lnTo>
                    <a:pt x="0" y="4241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-3711" r="0" b="-371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499628" y="1850730"/>
              <a:ext cx="3184739" cy="2112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50"/>
                </a:lnSpc>
              </a:pPr>
              <a:r>
                <a:rPr lang="en-US" sz="3107" b="true">
                  <a:solidFill>
                    <a:srgbClr val="1D0E62"/>
                  </a:solidFill>
                  <a:latin typeface="EB Garamond Semi-Bold"/>
                  <a:ea typeface="EB Garamond Semi-Bold"/>
                  <a:cs typeface="EB Garamond Semi-Bold"/>
                  <a:sym typeface="EB Garamond Semi-Bold"/>
                </a:rPr>
                <a:t>T</a:t>
              </a:r>
              <a:r>
                <a:rPr lang="en-US" b="true" sz="3107">
                  <a:solidFill>
                    <a:srgbClr val="1D0E62"/>
                  </a:solidFill>
                  <a:latin typeface="EB Garamond Semi-Bold"/>
                  <a:ea typeface="EB Garamond Semi-Bold"/>
                  <a:cs typeface="EB Garamond Semi-Bold"/>
                  <a:sym typeface="EB Garamond Semi-Bold"/>
                </a:rPr>
                <a:t>echnology&amp; Methodology</a:t>
              </a:r>
            </a:p>
            <a:p>
              <a:pPr algn="ctr">
                <a:lnSpc>
                  <a:spcPts val="4350"/>
                </a:lnSpc>
              </a:pPr>
            </a:p>
          </p:txBody>
        </p:sp>
        <p:sp>
          <p:nvSpPr>
            <p:cNvPr name="Freeform 38" id="38"/>
            <p:cNvSpPr/>
            <p:nvPr/>
          </p:nvSpPr>
          <p:spPr>
            <a:xfrm flipH="false" flipV="false" rot="0">
              <a:off x="1133513" y="515749"/>
              <a:ext cx="1527776" cy="1372221"/>
            </a:xfrm>
            <a:custGeom>
              <a:avLst/>
              <a:gdLst/>
              <a:ahLst/>
              <a:cxnLst/>
              <a:rect r="r" b="b" t="t" l="l"/>
              <a:pathLst>
                <a:path h="1372221" w="1527776">
                  <a:moveTo>
                    <a:pt x="0" y="0"/>
                  </a:moveTo>
                  <a:lnTo>
                    <a:pt x="1527776" y="0"/>
                  </a:lnTo>
                  <a:lnTo>
                    <a:pt x="1527776" y="1372221"/>
                  </a:lnTo>
                  <a:lnTo>
                    <a:pt x="0" y="1372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9" id="39"/>
          <p:cNvSpPr/>
          <p:nvPr/>
        </p:nvSpPr>
        <p:spPr>
          <a:xfrm flipH="false" flipV="false" rot="0">
            <a:off x="8130869" y="5363457"/>
            <a:ext cx="2940449" cy="4923543"/>
          </a:xfrm>
          <a:custGeom>
            <a:avLst/>
            <a:gdLst/>
            <a:ahLst/>
            <a:cxnLst/>
            <a:rect r="r" b="b" t="t" l="l"/>
            <a:pathLst>
              <a:path h="4923543" w="2940449">
                <a:moveTo>
                  <a:pt x="0" y="0"/>
                </a:moveTo>
                <a:lnTo>
                  <a:pt x="2940450" y="0"/>
                </a:lnTo>
                <a:lnTo>
                  <a:pt x="2940450" y="4923543"/>
                </a:lnTo>
                <a:lnTo>
                  <a:pt x="0" y="49235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DAHAVwuveMI</dc:identifier>
  <dcterms:modified xsi:type="dcterms:W3CDTF">2011-08-01T06:04:30Z</dcterms:modified>
  <cp:revision>1</cp:revision>
  <dc:title>Yellow Pink Blue Clean Professional Illustration Online Course Promotion Presentation</dc:title>
</cp:coreProperties>
</file>